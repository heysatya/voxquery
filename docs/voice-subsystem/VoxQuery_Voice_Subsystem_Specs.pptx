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4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9144000" cy="5143500" type="screen16x9"/>
  <p:notesSz cx="6858000" cy="9144000"/>
  <p:embeddedFontLst>
    <p:embeddedFont>
      <p:font typeface="Lora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14CF6-BF6E-46E3-A2CE-2C66F7B206A2}" v="300" dt="2026-05-25T00:00:15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946" autoAdjust="0"/>
  </p:normalViewPr>
  <p:slideViewPr>
    <p:cSldViewPr snapToGrid="0">
      <p:cViewPr varScale="1">
        <p:scale>
          <a:sx n="91" d="100"/>
          <a:sy n="91" d="100"/>
        </p:scale>
        <p:origin x="1166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ed19b842a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ed19b842a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 title="slide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1375"/>
            <a:ext cx="9274173" cy="52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352338" y="927213"/>
            <a:ext cx="565418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sz="2000" b="1" dirty="0">
                <a:solidFill>
                  <a:schemeClr val="bg1"/>
                </a:solidFill>
                <a:latin typeface="Lora" pitchFamily="2" charset="0"/>
              </a:rPr>
              <a:t>VOXQUERY TECHNICAL SPECIFICATION</a:t>
            </a:r>
          </a:p>
        </p:txBody>
      </p:sp>
      <p:sp>
        <p:nvSpPr>
          <p:cNvPr id="66" name="Google Shape;66;p16"/>
          <p:cNvSpPr txBox="1"/>
          <p:nvPr/>
        </p:nvSpPr>
        <p:spPr>
          <a:xfrm>
            <a:off x="598352" y="1688537"/>
            <a:ext cx="5122940" cy="113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Lora" pitchFamily="2" charset="0"/>
              </a:rPr>
              <a:t>Voice Subsystem Architecture</a:t>
            </a:r>
          </a:p>
          <a:p>
            <a:pPr algn="ctr"/>
            <a:r>
              <a:rPr sz="1800" b="1" dirty="0">
                <a:solidFill>
                  <a:srgbClr val="FFFFFF"/>
                </a:solidFill>
                <a:latin typeface="Lora" pitchFamily="2" charset="0"/>
              </a:rPr>
              <a:t>Engineering Spec &amp; Interface Contracts</a:t>
            </a:r>
          </a:p>
          <a:p>
            <a:pPr algn="ctr"/>
            <a:r>
              <a:rPr sz="1800" b="1" dirty="0">
                <a:solidFill>
                  <a:srgbClr val="FFFFFF"/>
                </a:solidFill>
                <a:latin typeface="Lora" pitchFamily="2" charset="0"/>
              </a:rPr>
              <a:t>Subsystems 4.1 · 4.2 · 4.3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lide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173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Lora"/>
              </a:defRPr>
            </a:pPr>
            <a:r>
              <a:rPr dirty="0"/>
              <a:t>Subsystem Scope, Stack &amp; Module Map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A0B4D2"/>
                </a:solidFill>
                <a:latin typeface="Figtree Medium"/>
              </a:defRPr>
            </a:pPr>
            <a:r>
              <a:rPr dirty="0"/>
              <a:t>Subsystem boundaries, tech stack selection, and canonical file paths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48640" y="1371600"/>
            <a:ext cx="256032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0A5FA"/>
                </a:solidFill>
                <a:latin typeface="Lora"/>
              </a:defRPr>
            </a:pPr>
            <a:r>
              <a:rPr sz="1200"/>
              <a:t>4.1 Voice Input</a:t>
            </a:r>
          </a:p>
          <a:p>
            <a:pPr algn="ctr">
              <a:defRPr sz="850">
                <a:solidFill>
                  <a:srgbClr val="FFFFFF"/>
                </a:solidFill>
                <a:latin typeface="Figtree Medium"/>
              </a:defRPr>
            </a:pPr>
            <a:r>
              <a:rPr sz="900"/>
              <a:t>Manages mic permissions, streams audio via WebSocket to Deepgram, UI transcripts.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291840" y="1371600"/>
            <a:ext cx="256032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9333EA"/>
                </a:solidFill>
                <a:latin typeface="Lora"/>
              </a:defRPr>
            </a:pPr>
            <a:r>
              <a:rPr sz="1200"/>
              <a:t>4.2 Clarification Loop</a:t>
            </a:r>
          </a:p>
          <a:p>
            <a:pPr algn="ctr">
              <a:defRPr sz="850">
                <a:solidFill>
                  <a:srgbClr val="FFFFFF"/>
                </a:solidFill>
                <a:latin typeface="Figtree Medium"/>
              </a:defRPr>
            </a:pPr>
            <a:r>
              <a:rPr sz="900"/>
              <a:t>Inspects queries, computes confidence, triggers UI options, re-executes query.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2C55E"/>
                </a:solidFill>
                <a:latin typeface="Lora"/>
              </a:defRPr>
            </a:pPr>
            <a:r>
              <a:rPr sz="1200"/>
              <a:t>4.3 Conversation Memory</a:t>
            </a:r>
          </a:p>
          <a:p>
            <a:pPr algn="ctr">
              <a:defRPr sz="850">
                <a:solidFill>
                  <a:srgbClr val="FFFFFF"/>
                </a:solidFill>
                <a:latin typeface="Figtree Medium"/>
              </a:defRPr>
            </a:pPr>
            <a:r>
              <a:rPr sz="900"/>
              <a:t>Session history in Redis, token budgeting/truncation, logs audit turns.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8640" y="2651760"/>
            <a:ext cx="80467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EAB308"/>
                </a:solidFill>
                <a:latin typeface="Lora"/>
              </a:defRPr>
            </a:pPr>
            <a:r>
              <a:t>Core Tech Stack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48640" y="2926080"/>
            <a:ext cx="10058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rPr sz="1050"/>
              <a:t>Next.js 14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10018" y="2926080"/>
            <a:ext cx="1141741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rPr sz="1050" dirty="0" err="1"/>
              <a:t>FastAPI</a:t>
            </a:r>
            <a:r>
              <a:rPr sz="1050" dirty="0"/>
              <a:t> (Python 3.12)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43200" y="2926080"/>
            <a:ext cx="10058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rPr sz="1050" dirty="0"/>
              <a:t>Claude-3.5-Sonnet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840479" y="2926080"/>
            <a:ext cx="10058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rPr sz="1050"/>
              <a:t>Upstash Redis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937759" y="2926080"/>
            <a:ext cx="1253316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rPr sz="1050" dirty="0" err="1"/>
              <a:t>Supabase</a:t>
            </a:r>
            <a:r>
              <a:rPr sz="1050" dirty="0"/>
              <a:t> </a:t>
            </a:r>
            <a:endParaRPr lang="en-US" sz="1050" dirty="0"/>
          </a:p>
          <a:p>
            <a:pPr algn="ctr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rPr sz="1050" dirty="0"/>
              <a:t>Postgres 16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035040" y="2926080"/>
            <a:ext cx="10058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rPr sz="1050"/>
              <a:t>Langfuse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132319" y="2926080"/>
            <a:ext cx="10058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rPr sz="1050"/>
              <a:t>Clerk SSO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Lora"/>
              </a:defRPr>
            </a:pPr>
            <a:r>
              <a:t>Canonical Module Map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1520" y="365760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C8D2DC"/>
                </a:solidFill>
                <a:latin typeface="Figtree Medium"/>
              </a:defRPr>
            </a:pPr>
            <a:r>
              <a:t>└─ app/api/ws_audio.py ─ Deepgram streaming proxy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31520" y="388620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C8D2DC"/>
                </a:solidFill>
                <a:latin typeface="Figtree Medium"/>
              </a:defRPr>
            </a:pPr>
            <a:r>
              <a:t>└─ app/core/stt.py &amp; ambiguity.py &amp; confidence.py ─ Signal classification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31520" y="411480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C8D2DC"/>
                </a:solidFill>
                <a:latin typeface="Figtree Medium"/>
              </a:defRPr>
            </a:pPr>
            <a:r>
              <a:t>└─ app/core/session.py ─ Redis read/write controllers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31520" y="434340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C8D2DC"/>
                </a:solidFill>
                <a:latin typeface="Figtree Medium"/>
              </a:defRPr>
            </a:pPr>
            <a:r>
              <a:t>└─ components/ClarificationPanel.tsx ─ Disambiguation UI card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lide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173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Lora"/>
              </a:defRPr>
            </a:pPr>
            <a:r>
              <a:t>End-to-End Per-Turn Pipeline Sequence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A0B4D2"/>
                </a:solidFill>
                <a:latin typeface="Figtree Medium"/>
              </a:defRPr>
            </a:pPr>
            <a:r>
              <a:t>Chronological sequence of the 8 distinct phases executed during a single query turn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48640" y="1371600"/>
            <a:ext cx="1874519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60A5FA"/>
                </a:solidFill>
                <a:latin typeface="Lora"/>
              </a:defRPr>
            </a:pPr>
            <a:r>
              <a:rPr sz="1200"/>
              <a:t>Phase 1: Input</a:t>
            </a:r>
          </a:p>
          <a:p>
            <a:pPr algn="ctr">
              <a:defRPr sz="850">
                <a:solidFill>
                  <a:srgbClr val="DCE6F5"/>
                </a:solidFill>
                <a:latin typeface="Figtree Medium"/>
              </a:defRPr>
            </a:pPr>
            <a:r>
              <a:rPr sz="1200"/>
              <a:t>Mic -&gt; WebSocket -&gt; Raw audio.</a:t>
            </a:r>
          </a:p>
        </p:txBody>
      </p:sp>
      <p:sp>
        <p:nvSpPr>
          <p:cNvPr id="114" name="Right Arrow 113"/>
          <p:cNvSpPr/>
          <p:nvPr/>
        </p:nvSpPr>
        <p:spPr>
          <a:xfrm>
            <a:off x="2450592" y="1874520"/>
            <a:ext cx="128016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15" name="Rectangle 114"/>
          <p:cNvSpPr/>
          <p:nvPr/>
        </p:nvSpPr>
        <p:spPr>
          <a:xfrm>
            <a:off x="2606040" y="1371600"/>
            <a:ext cx="1874519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60A5FA"/>
                </a:solidFill>
                <a:latin typeface="Lora"/>
              </a:defRPr>
            </a:pPr>
            <a:r>
              <a:rPr sz="1200"/>
              <a:t>Phase 2: Read</a:t>
            </a:r>
          </a:p>
          <a:p>
            <a:pPr algn="ctr">
              <a:defRPr sz="850">
                <a:solidFill>
                  <a:srgbClr val="DCE6F5"/>
                </a:solidFill>
                <a:latin typeface="Figtree Medium"/>
              </a:defRPr>
            </a:pPr>
            <a:r>
              <a:rPr sz="1200"/>
              <a:t>Pull Redis state. Calc token budget.</a:t>
            </a:r>
          </a:p>
        </p:txBody>
      </p:sp>
      <p:sp>
        <p:nvSpPr>
          <p:cNvPr id="116" name="Right Arrow 115"/>
          <p:cNvSpPr/>
          <p:nvPr/>
        </p:nvSpPr>
        <p:spPr>
          <a:xfrm>
            <a:off x="4507992" y="1874520"/>
            <a:ext cx="128016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17" name="Rectangle 116"/>
          <p:cNvSpPr/>
          <p:nvPr/>
        </p:nvSpPr>
        <p:spPr>
          <a:xfrm>
            <a:off x="4663440" y="1371600"/>
            <a:ext cx="1874519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60A5FA"/>
                </a:solidFill>
                <a:latin typeface="Lora"/>
              </a:defRPr>
            </a:pPr>
            <a:r>
              <a:rPr sz="1200"/>
              <a:t>Phase 3: Gen</a:t>
            </a:r>
          </a:p>
          <a:p>
            <a:pPr algn="ctr">
              <a:defRPr sz="850">
                <a:solidFill>
                  <a:srgbClr val="DCE6F5"/>
                </a:solidFill>
                <a:latin typeface="Figtree Medium"/>
              </a:defRPr>
            </a:pPr>
            <a:r>
              <a:rPr sz="1200"/>
              <a:t>RAG chunks. LLM adapter -&gt; SQL.</a:t>
            </a:r>
          </a:p>
        </p:txBody>
      </p:sp>
      <p:sp>
        <p:nvSpPr>
          <p:cNvPr id="118" name="Right Arrow 117"/>
          <p:cNvSpPr/>
          <p:nvPr/>
        </p:nvSpPr>
        <p:spPr>
          <a:xfrm>
            <a:off x="6565392" y="1874520"/>
            <a:ext cx="128016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19" name="Rectangle 118"/>
          <p:cNvSpPr/>
          <p:nvPr/>
        </p:nvSpPr>
        <p:spPr>
          <a:xfrm>
            <a:off x="6720840" y="1371600"/>
            <a:ext cx="1874519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60A5FA"/>
                </a:solidFill>
                <a:latin typeface="Lora"/>
              </a:defRPr>
            </a:pPr>
            <a:r>
              <a:rPr sz="1200"/>
              <a:t>Phase 4: Eval</a:t>
            </a:r>
          </a:p>
          <a:p>
            <a:pPr algn="ctr">
              <a:defRPr sz="850">
                <a:solidFill>
                  <a:srgbClr val="DCE6F5"/>
                </a:solidFill>
                <a:latin typeface="Figtree Medium"/>
              </a:defRPr>
            </a:pPr>
            <a:r>
              <a:rPr sz="1200"/>
              <a:t>ambiguity.py scans query -&gt; score.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8640" y="3063240"/>
            <a:ext cx="1874519" cy="1280160"/>
          </a:xfrm>
          <a:prstGeom prst="rect">
            <a:avLst/>
          </a:prstGeom>
          <a:solidFill>
            <a:srgbClr val="231E32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EAB308"/>
                </a:solidFill>
                <a:latin typeface="Lora"/>
              </a:defRPr>
            </a:pPr>
            <a:r>
              <a:rPr sz="1200"/>
              <a:t>Phase 4A: Clarify</a:t>
            </a:r>
          </a:p>
          <a:p>
            <a:pPr algn="ctr">
              <a:defRPr sz="850">
                <a:solidFill>
                  <a:srgbClr val="DCE6F5"/>
                </a:solidFill>
                <a:latin typeface="Figtree Medium"/>
              </a:defRPr>
            </a:pPr>
            <a:r>
              <a:rPr sz="1200"/>
              <a:t>If score &lt; 0.65 -&gt; User UI options.</a:t>
            </a:r>
          </a:p>
        </p:txBody>
      </p:sp>
      <p:sp>
        <p:nvSpPr>
          <p:cNvPr id="121" name="Right Arrow 120"/>
          <p:cNvSpPr/>
          <p:nvPr/>
        </p:nvSpPr>
        <p:spPr>
          <a:xfrm>
            <a:off x="2450592" y="3566160"/>
            <a:ext cx="128016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22" name="Rectangle 121"/>
          <p:cNvSpPr/>
          <p:nvPr/>
        </p:nvSpPr>
        <p:spPr>
          <a:xfrm>
            <a:off x="2606040" y="3063240"/>
            <a:ext cx="1874519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60A5FA"/>
                </a:solidFill>
                <a:latin typeface="Lora"/>
              </a:defRPr>
            </a:pPr>
            <a:r>
              <a:rPr sz="1200"/>
              <a:t>Phase 5: SQL Exec</a:t>
            </a:r>
          </a:p>
          <a:p>
            <a:pPr algn="ctr">
              <a:defRPr sz="850">
                <a:solidFill>
                  <a:srgbClr val="DCE6F5"/>
                </a:solidFill>
                <a:latin typeface="Figtree Medium"/>
              </a:defRPr>
            </a:pPr>
            <a:r>
              <a:rPr sz="1200"/>
              <a:t>Validates SQL. Snowflake runs.</a:t>
            </a:r>
          </a:p>
        </p:txBody>
      </p:sp>
      <p:sp>
        <p:nvSpPr>
          <p:cNvPr id="123" name="Right Arrow 122"/>
          <p:cNvSpPr/>
          <p:nvPr/>
        </p:nvSpPr>
        <p:spPr>
          <a:xfrm>
            <a:off x="4507992" y="3566160"/>
            <a:ext cx="128016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24" name="Rectangle 123"/>
          <p:cNvSpPr/>
          <p:nvPr/>
        </p:nvSpPr>
        <p:spPr>
          <a:xfrm>
            <a:off x="4663440" y="3063240"/>
            <a:ext cx="1874519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60A5FA"/>
                </a:solidFill>
                <a:latin typeface="Lora"/>
              </a:defRPr>
            </a:pPr>
            <a:r>
              <a:rPr sz="1200"/>
              <a:t>Phase 6: Deliver</a:t>
            </a:r>
          </a:p>
          <a:p>
            <a:pPr algn="ctr">
              <a:defRPr sz="850">
                <a:solidFill>
                  <a:srgbClr val="DCE6F5"/>
                </a:solidFill>
                <a:latin typeface="Figtree Medium"/>
              </a:defRPr>
            </a:pPr>
            <a:r>
              <a:rPr sz="1200"/>
              <a:t>Storyteller summary -&gt; parallel TTS.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6565392" y="3566160"/>
            <a:ext cx="128016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  <p:sp>
        <p:nvSpPr>
          <p:cNvPr id="126" name="Rectangle 125"/>
          <p:cNvSpPr/>
          <p:nvPr/>
        </p:nvSpPr>
        <p:spPr>
          <a:xfrm>
            <a:off x="6720840" y="3063240"/>
            <a:ext cx="1874519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>
              <a:defRPr sz="1050" b="1">
                <a:solidFill>
                  <a:srgbClr val="60A5FA"/>
                </a:solidFill>
                <a:latin typeface="Lora"/>
              </a:defRPr>
            </a:pPr>
            <a:r>
              <a:rPr sz="1200"/>
              <a:t>Phase 7/8: Write</a:t>
            </a:r>
          </a:p>
          <a:p>
            <a:pPr algn="ctr">
              <a:defRPr sz="850">
                <a:solidFill>
                  <a:srgbClr val="DCE6F5"/>
                </a:solidFill>
                <a:latin typeface="Figtree Medium"/>
              </a:defRPr>
            </a:pPr>
            <a:r>
              <a:rPr sz="1200"/>
              <a:t>Extend TTL. Async write Postgres.</a:t>
            </a:r>
          </a:p>
        </p:txBody>
      </p:sp>
      <p:sp>
        <p:nvSpPr>
          <p:cNvPr id="127" name="Down Arrow 126"/>
          <p:cNvSpPr/>
          <p:nvPr/>
        </p:nvSpPr>
        <p:spPr>
          <a:xfrm>
            <a:off x="7635240" y="2670048"/>
            <a:ext cx="182880" cy="18288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5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lide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173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Lora"/>
              </a:defRPr>
            </a:pPr>
            <a:r>
              <a:t>Subsystem 4.1: Voice Input &amp; WS Audio Relay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A0B4D2"/>
                </a:solidFill>
                <a:latin typeface="Figtree Medium"/>
              </a:defRPr>
            </a:pPr>
            <a:r>
              <a:t>Real-time streaming audio protocol and recording state transitions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1280160"/>
            <a:ext cx="3840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  <a:latin typeface="Lora"/>
              </a:defRPr>
            </a:pPr>
            <a:r>
              <a:t>WebSocket Audio Relay Topology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21469" y="1828800"/>
            <a:ext cx="13716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React Client</a:t>
            </a:r>
          </a:p>
          <a:p>
            <a:pPr algn="ctr"/>
            <a:r>
              <a:rPr sz="1200"/>
              <a:t>(Browser Mic)</a:t>
            </a:r>
          </a:p>
        </p:txBody>
      </p:sp>
      <p:sp>
        <p:nvSpPr>
          <p:cNvPr id="115" name="Right Arrow 114"/>
          <p:cNvSpPr/>
          <p:nvPr/>
        </p:nvSpPr>
        <p:spPr>
          <a:xfrm>
            <a:off x="1593069" y="2103120"/>
            <a:ext cx="495790" cy="220630"/>
          </a:xfrm>
          <a:prstGeom prst="rightArrow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6" name="TextBox 115"/>
          <p:cNvSpPr txBox="1"/>
          <p:nvPr/>
        </p:nvSpPr>
        <p:spPr>
          <a:xfrm>
            <a:off x="1593069" y="1869906"/>
            <a:ext cx="4572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Figtree Medium"/>
              </a:defRPr>
            </a:pPr>
            <a:r>
              <a:rPr sz="800" dirty="0"/>
              <a:t>Raw </a:t>
            </a:r>
            <a:endParaRPr lang="en-US" sz="800" dirty="0"/>
          </a:p>
          <a:p>
            <a:pPr algn="ctr">
              <a:defRPr sz="700" b="0">
                <a:solidFill>
                  <a:srgbClr val="FFFFFF"/>
                </a:solidFill>
                <a:latin typeface="Figtree Medium"/>
              </a:defRPr>
            </a:pPr>
            <a:r>
              <a:rPr sz="800" dirty="0"/>
              <a:t>PCM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059497" y="1645920"/>
            <a:ext cx="14630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FastAPI Relay</a:t>
            </a:r>
          </a:p>
          <a:p>
            <a:pPr algn="ctr"/>
            <a:r>
              <a:rPr sz="1200"/>
              <a:t>(ws_audio.py)</a:t>
            </a:r>
          </a:p>
          <a:p>
            <a:pPr algn="ctr"/>
            <a:r>
              <a:rPr sz="1200"/>
              <a:t>Validates JWT</a:t>
            </a:r>
          </a:p>
        </p:txBody>
      </p:sp>
      <p:sp>
        <p:nvSpPr>
          <p:cNvPr id="118" name="Right Arrow 117"/>
          <p:cNvSpPr/>
          <p:nvPr/>
        </p:nvSpPr>
        <p:spPr>
          <a:xfrm>
            <a:off x="3522536" y="2103120"/>
            <a:ext cx="365760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9" name="Rounded Rectangle 118"/>
          <p:cNvSpPr/>
          <p:nvPr/>
        </p:nvSpPr>
        <p:spPr>
          <a:xfrm>
            <a:off x="3888297" y="1828800"/>
            <a:ext cx="13716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Deepgram API</a:t>
            </a:r>
          </a:p>
          <a:p>
            <a:pPr algn="ctr"/>
            <a:r>
              <a:rPr sz="1200"/>
              <a:t>(Nova-2 STT)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8640" y="3017520"/>
            <a:ext cx="438912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800"/>
              </a:spcAft>
              <a:defRPr sz="1250" b="1">
                <a:solidFill>
                  <a:srgbClr val="FFFFFF"/>
                </a:solidFill>
                <a:latin typeface="Lora"/>
              </a:defRPr>
            </a:pPr>
            <a:r>
              <a:rPr sz="1200"/>
              <a:t>Relay Protocol Details</a:t>
            </a:r>
          </a:p>
          <a:p>
            <a:pPr algn="ctr">
              <a:spcAft>
                <a:spcPts val="450"/>
              </a:spcAft>
              <a:defRPr sz="919">
                <a:solidFill>
                  <a:srgbClr val="D2E1F5"/>
                </a:solidFill>
                <a:latin typeface="Figtree Medium"/>
              </a:defRPr>
            </a:pPr>
            <a:r>
              <a:rPr sz="900"/>
              <a:t>No Local Buffering: Audio bytes streamed instantly to Deepgram.</a:t>
            </a:r>
          </a:p>
          <a:p>
            <a:pPr algn="ctr">
              <a:spcAft>
                <a:spcPts val="450"/>
              </a:spcAft>
              <a:defRPr sz="919">
                <a:solidFill>
                  <a:srgbClr val="D2E1F5"/>
                </a:solidFill>
                <a:latin typeface="Figtree Medium"/>
              </a:defRPr>
            </a:pPr>
            <a:r>
              <a:rPr sz="900"/>
              <a:t>JSON Transcripts: Returns { 'type': 'interim_transcript', 'text': '...' }</a:t>
            </a:r>
          </a:p>
          <a:p>
            <a:pPr algn="ctr">
              <a:spcAft>
                <a:spcPts val="450"/>
              </a:spcAft>
              <a:defRPr sz="919">
                <a:solidFill>
                  <a:srgbClr val="D2E1F5"/>
                </a:solidFill>
                <a:latin typeface="Figtree Medium"/>
              </a:defRPr>
            </a:pPr>
            <a:r>
              <a:rPr sz="900"/>
              <a:t>Close Codes: 1000 (normal), 4001 (auth failure), 4003 (already recording).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03520" y="1280160"/>
            <a:ext cx="32918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ora"/>
              </a:defRPr>
            </a:pPr>
            <a:r>
              <a:rPr dirty="0"/>
              <a:t>Recording Lifecycle State Machine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486400" y="1828800"/>
            <a:ext cx="1280160" cy="502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  <a:latin typeface="Lora"/>
              </a:defRPr>
            </a:pPr>
            <a:r>
              <a:rPr sz="1100"/>
              <a:t>IDLE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394960" y="2377440"/>
            <a:ext cx="14630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BECDE1"/>
                </a:solidFill>
                <a:latin typeface="Figtree Medium"/>
              </a:defRPr>
            </a:pPr>
            <a:r>
              <a:rPr sz="1050"/>
              <a:t>Awaiting click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315200" y="1828800"/>
            <a:ext cx="1280160" cy="502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AB308"/>
                </a:solidFill>
                <a:latin typeface="Lora"/>
              </a:defRPr>
            </a:pPr>
            <a:r>
              <a:rPr sz="1100"/>
              <a:t>CONNECTING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223760" y="2377440"/>
            <a:ext cx="14630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BECDE1"/>
                </a:solidFill>
                <a:latin typeface="Figtree Medium"/>
              </a:defRPr>
            </a:pPr>
            <a:r>
              <a:rPr sz="1050"/>
              <a:t>Handshake WS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315200" y="3200400"/>
            <a:ext cx="1280160" cy="502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  <a:latin typeface="Lora"/>
              </a:defRPr>
            </a:pPr>
            <a:r>
              <a:rPr sz="1100"/>
              <a:t>RECORDING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223760" y="3749040"/>
            <a:ext cx="14630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BECDE1"/>
                </a:solidFill>
                <a:latin typeface="Figtree Medium"/>
              </a:defRPr>
            </a:pPr>
            <a:r>
              <a:rPr sz="1050"/>
              <a:t>Streaming PCM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486400" y="3200400"/>
            <a:ext cx="1280160" cy="502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33EA"/>
                </a:solidFill>
                <a:latin typeface="Lora"/>
              </a:defRPr>
            </a:pPr>
            <a:r>
              <a:rPr sz="1100"/>
              <a:t>PROCESSING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394960" y="3749040"/>
            <a:ext cx="14630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>
                <a:solidFill>
                  <a:srgbClr val="BECDE1"/>
                </a:solidFill>
                <a:latin typeface="Figtree Medium"/>
              </a:defRPr>
            </a:pPr>
            <a:r>
              <a:rPr sz="1050"/>
              <a:t>Awaiting final</a:t>
            </a:r>
          </a:p>
        </p:txBody>
      </p:sp>
      <p:sp>
        <p:nvSpPr>
          <p:cNvPr id="130" name="Right Arrow 129"/>
          <p:cNvSpPr/>
          <p:nvPr/>
        </p:nvSpPr>
        <p:spPr>
          <a:xfrm>
            <a:off x="6766560" y="1993392"/>
            <a:ext cx="548640" cy="164592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31" name="Down Arrow 130"/>
          <p:cNvSpPr/>
          <p:nvPr/>
        </p:nvSpPr>
        <p:spPr>
          <a:xfrm>
            <a:off x="7863840" y="2583808"/>
            <a:ext cx="181202" cy="616591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32" name="Left Arrow 131"/>
          <p:cNvSpPr/>
          <p:nvPr/>
        </p:nvSpPr>
        <p:spPr>
          <a:xfrm>
            <a:off x="6766560" y="3364992"/>
            <a:ext cx="548640" cy="164592"/>
          </a:xfrm>
          <a:prstGeom prst="lef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33" name="Up Arrow 132"/>
          <p:cNvSpPr/>
          <p:nvPr/>
        </p:nvSpPr>
        <p:spPr>
          <a:xfrm>
            <a:off x="6035040" y="2558642"/>
            <a:ext cx="156035" cy="641758"/>
          </a:xfrm>
          <a:prstGeom prst="up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lide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173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Lora"/>
              </a:defRPr>
            </a:pPr>
            <a:r>
              <a:t>Subsystem 4.2: Clarification Loop State Machine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A0B4D2"/>
                </a:solidFill>
                <a:latin typeface="Figtree Medium"/>
              </a:defRPr>
            </a:pPr>
            <a:r>
              <a:t>Pipeline decision trees for resolving ambiguous entities, metrics, or schemas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14400" y="1645920"/>
            <a:ext cx="18288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  <a:latin typeface="Lora"/>
              </a:defRPr>
            </a:pPr>
            <a:r>
              <a:rPr sz="1100"/>
              <a:t>CONFIDENCE_EVAL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1645920"/>
            <a:ext cx="18288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C55E"/>
                </a:solidFill>
                <a:latin typeface="Lora"/>
              </a:defRPr>
            </a:pPr>
            <a:r>
              <a:rPr sz="1100"/>
              <a:t>SQL_EXECUTION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200400" y="2743200"/>
            <a:ext cx="18288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33EA"/>
                </a:solidFill>
                <a:latin typeface="Lora"/>
              </a:defRPr>
            </a:pPr>
            <a:r>
              <a:rPr sz="1100"/>
              <a:t>CLARIFY_PENDING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943600" y="2743200"/>
            <a:ext cx="18288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  <a:latin typeface="Lora"/>
              </a:defRPr>
            </a:pPr>
            <a:r>
              <a:rPr sz="1100"/>
              <a:t>SQL_REGEN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200400" y="3931920"/>
            <a:ext cx="18288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8828C"/>
                </a:solidFill>
                <a:latin typeface="Lora"/>
              </a:defRPr>
            </a:pPr>
            <a:r>
              <a:rPr sz="1100"/>
              <a:t>CLARIFY_ESCAPED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943600" y="3931920"/>
            <a:ext cx="182880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  <a:latin typeface="Lora"/>
              </a:defRPr>
            </a:pPr>
            <a:r>
              <a:rPr sz="1100"/>
              <a:t>ERROR_STATE</a:t>
            </a:r>
          </a:p>
        </p:txBody>
      </p:sp>
      <p:sp>
        <p:nvSpPr>
          <p:cNvPr id="119" name="Right Arrow 118"/>
          <p:cNvSpPr/>
          <p:nvPr/>
        </p:nvSpPr>
        <p:spPr>
          <a:xfrm>
            <a:off x="2743200" y="1828800"/>
            <a:ext cx="3200400" cy="13716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20" name="TextBox 119"/>
          <p:cNvSpPr txBox="1"/>
          <p:nvPr/>
        </p:nvSpPr>
        <p:spPr>
          <a:xfrm>
            <a:off x="3657600" y="155448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>
                <a:solidFill>
                  <a:srgbClr val="22C55E"/>
                </a:solidFill>
                <a:latin typeface="Figtree Medium"/>
              </a:defRPr>
            </a:pPr>
            <a:r>
              <a:rPr sz="1000"/>
              <a:t>Score &gt;= 0.65</a:t>
            </a:r>
          </a:p>
        </p:txBody>
      </p:sp>
      <p:sp>
        <p:nvSpPr>
          <p:cNvPr id="121" name="Down Arrow 120"/>
          <p:cNvSpPr/>
          <p:nvPr/>
        </p:nvSpPr>
        <p:spPr>
          <a:xfrm>
            <a:off x="1828800" y="2194560"/>
            <a:ext cx="137160" cy="82296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22" name="Right Arrow 121"/>
          <p:cNvSpPr/>
          <p:nvPr/>
        </p:nvSpPr>
        <p:spPr>
          <a:xfrm>
            <a:off x="1965960" y="2926080"/>
            <a:ext cx="1234440" cy="13716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23" name="TextBox 122"/>
          <p:cNvSpPr txBox="1"/>
          <p:nvPr/>
        </p:nvSpPr>
        <p:spPr>
          <a:xfrm>
            <a:off x="2011680" y="265176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>
                <a:solidFill>
                  <a:srgbClr val="EF4444"/>
                </a:solidFill>
                <a:latin typeface="Figtree Medium"/>
              </a:defRPr>
            </a:pPr>
            <a:r>
              <a:rPr sz="1000"/>
              <a:t>Score &lt; 0.65</a:t>
            </a:r>
          </a:p>
        </p:txBody>
      </p:sp>
      <p:sp>
        <p:nvSpPr>
          <p:cNvPr id="124" name="Right Arrow 123"/>
          <p:cNvSpPr/>
          <p:nvPr/>
        </p:nvSpPr>
        <p:spPr>
          <a:xfrm>
            <a:off x="5029200" y="2926080"/>
            <a:ext cx="914400" cy="1371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25" name="TextBox 124"/>
          <p:cNvSpPr txBox="1"/>
          <p:nvPr/>
        </p:nvSpPr>
        <p:spPr>
          <a:xfrm>
            <a:off x="5120640" y="265176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>
                <a:solidFill>
                  <a:srgbClr val="FFFFFF"/>
                </a:solidFill>
                <a:latin typeface="Figtree Medium"/>
              </a:defRPr>
            </a:pPr>
            <a:r>
              <a:rPr sz="1000"/>
              <a:t>User Selected</a:t>
            </a:r>
          </a:p>
        </p:txBody>
      </p:sp>
      <p:sp>
        <p:nvSpPr>
          <p:cNvPr id="126" name="Down Arrow 125"/>
          <p:cNvSpPr/>
          <p:nvPr/>
        </p:nvSpPr>
        <p:spPr>
          <a:xfrm>
            <a:off x="4023360" y="3291840"/>
            <a:ext cx="137160" cy="640080"/>
          </a:xfrm>
          <a:prstGeom prst="downArrow">
            <a:avLst/>
          </a:prstGeom>
          <a:solidFill>
            <a:srgbClr val="78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27" name="TextBox 126"/>
          <p:cNvSpPr txBox="1"/>
          <p:nvPr/>
        </p:nvSpPr>
        <p:spPr>
          <a:xfrm>
            <a:off x="4206240" y="347472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>
                <a:solidFill>
                  <a:srgbClr val="78828C"/>
                </a:solidFill>
                <a:latin typeface="Figtree Medium"/>
              </a:defRPr>
            </a:pPr>
            <a:r>
              <a:rPr sz="1000"/>
              <a:t>Escape UI</a:t>
            </a:r>
          </a:p>
        </p:txBody>
      </p:sp>
      <p:sp>
        <p:nvSpPr>
          <p:cNvPr id="128" name="Right Arrow 127"/>
          <p:cNvSpPr/>
          <p:nvPr/>
        </p:nvSpPr>
        <p:spPr>
          <a:xfrm>
            <a:off x="5029200" y="2476430"/>
            <a:ext cx="914400" cy="137160"/>
          </a:xfrm>
          <a:prstGeom prst="rightArrow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29" name="TextBox 128"/>
          <p:cNvSpPr txBox="1"/>
          <p:nvPr/>
        </p:nvSpPr>
        <p:spPr>
          <a:xfrm>
            <a:off x="5120640" y="228600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>
                <a:solidFill>
                  <a:srgbClr val="EAB308"/>
                </a:solidFill>
                <a:latin typeface="Figtree Medium"/>
              </a:defRPr>
            </a:pPr>
            <a:r>
              <a:rPr sz="1000"/>
              <a:t>30s Timeout</a:t>
            </a:r>
          </a:p>
        </p:txBody>
      </p:sp>
      <p:sp>
        <p:nvSpPr>
          <p:cNvPr id="130" name="Up Arrow 129"/>
          <p:cNvSpPr/>
          <p:nvPr/>
        </p:nvSpPr>
        <p:spPr>
          <a:xfrm>
            <a:off x="6766560" y="2194560"/>
            <a:ext cx="137160" cy="548640"/>
          </a:xfrm>
          <a:prstGeom prst="up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31" name="TextBox 130"/>
          <p:cNvSpPr txBox="1"/>
          <p:nvPr/>
        </p:nvSpPr>
        <p:spPr>
          <a:xfrm>
            <a:off x="6949440" y="237744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>
                <a:solidFill>
                  <a:srgbClr val="22C55E"/>
                </a:solidFill>
                <a:latin typeface="Figtree Medium"/>
              </a:defRPr>
            </a:pPr>
            <a:r>
              <a:rPr sz="1000"/>
              <a:t>Regen &gt;= 0.50</a:t>
            </a:r>
          </a:p>
        </p:txBody>
      </p:sp>
      <p:sp>
        <p:nvSpPr>
          <p:cNvPr id="132" name="Down Arrow 131"/>
          <p:cNvSpPr/>
          <p:nvPr/>
        </p:nvSpPr>
        <p:spPr>
          <a:xfrm>
            <a:off x="6766560" y="3291840"/>
            <a:ext cx="137160" cy="64008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33" name="TextBox 132"/>
          <p:cNvSpPr txBox="1"/>
          <p:nvPr/>
        </p:nvSpPr>
        <p:spPr>
          <a:xfrm>
            <a:off x="6949440" y="3474720"/>
            <a:ext cx="914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>
                <a:solidFill>
                  <a:srgbClr val="EF4444"/>
                </a:solidFill>
                <a:latin typeface="Figtree Medium"/>
              </a:defRPr>
            </a:pPr>
            <a:r>
              <a:rPr sz="1000"/>
              <a:t>Regen &lt; 0.50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lide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173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Lora"/>
              </a:defRPr>
            </a:pPr>
            <a:r>
              <a:t>Confidence Scoring &amp; Ambiguity Taxonomy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A0B4D2"/>
                </a:solidFill>
                <a:latin typeface="Figtree Medium"/>
              </a:defRPr>
            </a:pPr>
            <a:r>
              <a:t>Mathematical boundaries and rule-based query ambiguity detection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Lora"/>
              </a:defRPr>
            </a:pPr>
            <a:r>
              <a:t>Confidence Thresholds (composite_score)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" y="1645920"/>
            <a:ext cx="7863840" cy="365760"/>
          </a:xfrm>
          <a:prstGeom prst="rect">
            <a:avLst/>
          </a:prstGeom>
          <a:solidFill>
            <a:srgbClr val="1E29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548640" y="1645920"/>
            <a:ext cx="5111496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48640" y="2011680"/>
            <a:ext cx="51114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t>LOW (&lt; 0.65)</a:t>
            </a:r>
            <a:br/>
            <a:r>
              <a:t>Triggers Clarification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0136" y="1645920"/>
            <a:ext cx="1179576" cy="3657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5660136" y="2011680"/>
            <a:ext cx="11795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t>MED</a:t>
            </a:r>
            <a:br/>
            <a:r>
              <a:t>Warning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839712" y="1645920"/>
            <a:ext cx="1572768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839712" y="2011680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t>HIGH</a:t>
            </a:r>
            <a:br/>
            <a:r>
              <a:t>Auto-Execute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9333EA"/>
                </a:solidFill>
                <a:latin typeface="Lora"/>
              </a:defRPr>
            </a:pPr>
            <a:r>
              <a:t>Ambiguity Signal Hierarchy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8640" y="2926080"/>
            <a:ext cx="7863840" cy="36576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Figtree Medium"/>
              </a:defRPr>
            </a:pPr>
            <a:r>
              <a:t>entity_ambiguity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926080" y="30175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t>Noun matches 2+ columns. Triggers UI list.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132320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Figtree Medium"/>
              </a:defRPr>
            </a:pPr>
            <a:r>
              <a:t>High Penalty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48640" y="3337560"/>
            <a:ext cx="7863840" cy="36576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Figtree Medium"/>
              </a:defRPr>
            </a:pPr>
            <a:r>
              <a:t>metric_ambiguity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926080" y="34290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t>Fuzzy metric maps to multiple distinct columns.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132320" y="34290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Figtree Medium"/>
              </a:defRPr>
            </a:pPr>
            <a:r>
              <a:t>High Penalty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48640" y="3749040"/>
            <a:ext cx="7863840" cy="36576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40080" y="38404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Figtree Medium"/>
              </a:defRPr>
            </a:pPr>
            <a:r>
              <a:t>temporal_ambiguity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80" y="38404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t>Date expression maps to multiple candidates.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132320" y="3840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Figtree Medium"/>
              </a:defRPr>
            </a:pPr>
            <a:r>
              <a:t>Med Penalty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48640" y="4160520"/>
            <a:ext cx="7863840" cy="36576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40080" y="42519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Figtree Medium"/>
              </a:defRPr>
            </a:pPr>
            <a:r>
              <a:t>missing_join_path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926080" y="42519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Figtree Medium"/>
              </a:defRPr>
            </a:pPr>
            <a:r>
              <a:t>Tables lack declared foreign keys.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132320" y="4251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Figtree Medium"/>
              </a:defRPr>
            </a:pPr>
            <a:r>
              <a:t>Critical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lide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173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Lora"/>
              </a:defRPr>
            </a:pPr>
            <a:r>
              <a:t>Subsystem 4.3: Session Memory &amp; Token Budgets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A0B4D2"/>
                </a:solidFill>
                <a:latin typeface="Figtree Medium"/>
              </a:defRPr>
            </a:pPr>
            <a:r>
              <a:t>Redis architecture and dynamic sliding-window truncation algorithm</a:t>
            </a:r>
          </a:p>
        </p:txBody>
      </p:sp>
      <p:sp>
        <p:nvSpPr>
          <p:cNvPr id="113" name="Can 112"/>
          <p:cNvSpPr/>
          <p:nvPr/>
        </p:nvSpPr>
        <p:spPr>
          <a:xfrm>
            <a:off x="548640" y="1463040"/>
            <a:ext cx="1371600" cy="1828800"/>
          </a:xfrm>
          <a:prstGeom prst="can">
            <a:avLst/>
          </a:prstGeom>
          <a:solidFill>
            <a:srgbClr val="EF44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14" name="TextBox 113"/>
          <p:cNvSpPr txBox="1"/>
          <p:nvPr/>
        </p:nvSpPr>
        <p:spPr>
          <a:xfrm>
            <a:off x="548640" y="2103120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Lora"/>
              </a:defRPr>
            </a:pPr>
            <a:r>
              <a:t>Upstash</a:t>
            </a:r>
            <a:br/>
            <a:r>
              <a:t>Redis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194560" y="1463040"/>
            <a:ext cx="365760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800"/>
              </a:spcAft>
              <a:defRPr sz="1250" b="1">
                <a:solidFill>
                  <a:srgbClr val="FFFFFF"/>
                </a:solidFill>
                <a:latin typeface="Lora"/>
              </a:defRPr>
            </a:pPr>
            <a:r>
              <a:t>Redis Schema Elements</a:t>
            </a:r>
          </a:p>
          <a:p>
            <a:pPr>
              <a:spcAft>
                <a:spcPts val="450"/>
              </a:spcAft>
              <a:defRPr sz="919">
                <a:solidFill>
                  <a:srgbClr val="D2E1F5"/>
                </a:solidFill>
                <a:latin typeface="Figtree Medium"/>
              </a:defRPr>
            </a:pPr>
            <a:r>
              <a:rPr sz="1050"/>
              <a:t>Key: session:{tenant_id}:{session_id}</a:t>
            </a:r>
          </a:p>
          <a:p>
            <a:pPr>
              <a:spcAft>
                <a:spcPts val="450"/>
              </a:spcAft>
              <a:defRPr sz="919">
                <a:solidFill>
                  <a:srgbClr val="D2E1F5"/>
                </a:solidFill>
                <a:latin typeface="Figtree Medium"/>
              </a:defRPr>
            </a:pPr>
            <a:r>
              <a:rPr sz="1050"/>
              <a:t>TTL: 4h (14,400s) rolling window.</a:t>
            </a:r>
          </a:p>
          <a:p>
            <a:pPr>
              <a:spcAft>
                <a:spcPts val="450"/>
              </a:spcAft>
              <a:defRPr sz="919">
                <a:solidFill>
                  <a:srgbClr val="D2E1F5"/>
                </a:solidFill>
                <a:latin typeface="Figtree Medium"/>
              </a:defRPr>
            </a:pPr>
            <a:r>
              <a:rPr sz="1050"/>
              <a:t>State: turn_count, clarification_state.</a:t>
            </a:r>
          </a:p>
          <a:p>
            <a:pPr>
              <a:spcAft>
                <a:spcPts val="450"/>
              </a:spcAft>
              <a:defRPr sz="919">
                <a:solidFill>
                  <a:srgbClr val="D2E1F5"/>
                </a:solidFill>
                <a:latin typeface="Figtree Medium"/>
              </a:defRPr>
            </a:pPr>
            <a:r>
              <a:rPr sz="1050"/>
              <a:t>JSON Array: history [ { turn... } ]</a:t>
            </a:r>
          </a:p>
          <a:p>
            <a:pPr>
              <a:spcAft>
                <a:spcPts val="450"/>
              </a:spcAft>
              <a:defRPr sz="919">
                <a:solidFill>
                  <a:srgbClr val="D2E1F5"/>
                </a:solidFill>
                <a:latin typeface="Figtree Medium"/>
              </a:defRPr>
            </a:pPr>
            <a:r>
              <a:rPr sz="1050"/>
              <a:t>Persisted: resolved_entities dictionary.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EAB308"/>
                </a:solidFill>
                <a:latin typeface="Lora"/>
              </a:defRPr>
            </a:pPr>
            <a:r>
              <a:t>Token Budget Sliding Window Algorithm (Max: 2,500 tiktoken)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48640" y="3840480"/>
            <a:ext cx="13716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Figtree Medium"/>
              </a:defRPr>
            </a:pPr>
            <a:r>
              <a:rPr sz="1050"/>
              <a:t>Retained Forever:</a:t>
            </a:r>
            <a:br>
              <a:rPr sz="1050"/>
            </a:br>
            <a:r>
              <a:rPr sz="1050"/>
              <a:t>resolved_entities</a:t>
            </a:r>
          </a:p>
        </p:txBody>
      </p:sp>
      <p:sp>
        <p:nvSpPr>
          <p:cNvPr id="118" name="Right Arrow 117"/>
          <p:cNvSpPr/>
          <p:nvPr/>
        </p:nvSpPr>
        <p:spPr>
          <a:xfrm>
            <a:off x="1920240" y="3931920"/>
            <a:ext cx="274320" cy="1371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19" name="TextBox 118"/>
          <p:cNvSpPr txBox="1"/>
          <p:nvPr/>
        </p:nvSpPr>
        <p:spPr>
          <a:xfrm>
            <a:off x="2286000" y="3840480"/>
            <a:ext cx="13716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Figtree Medium"/>
              </a:defRPr>
            </a:pPr>
            <a:r>
              <a:rPr sz="1050"/>
              <a:t>Retained Forever:</a:t>
            </a:r>
            <a:br>
              <a:rPr sz="1050"/>
            </a:br>
            <a:r>
              <a:rPr sz="1050"/>
              <a:t>Current Turn</a:t>
            </a:r>
          </a:p>
        </p:txBody>
      </p:sp>
      <p:sp>
        <p:nvSpPr>
          <p:cNvPr id="120" name="Right Arrow 119"/>
          <p:cNvSpPr/>
          <p:nvPr/>
        </p:nvSpPr>
        <p:spPr>
          <a:xfrm>
            <a:off x="3657600" y="3931920"/>
            <a:ext cx="274320" cy="1371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21" name="Rounded Rectangle 120"/>
          <p:cNvSpPr/>
          <p:nvPr/>
        </p:nvSpPr>
        <p:spPr>
          <a:xfrm>
            <a:off x="4023360" y="3749039"/>
            <a:ext cx="2286000" cy="548640"/>
          </a:xfrm>
          <a:prstGeom prst="roundRect">
            <a:avLst/>
          </a:prstGeom>
          <a:solidFill>
            <a:srgbClr val="322828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/>
            </a:pPr>
            <a:r>
              <a:rPr sz="1000"/>
              <a:t>Backwards Iteration</a:t>
            </a:r>
            <a:br>
              <a:rPr sz="1000"/>
            </a:br>
            <a:r>
              <a:rPr sz="1000"/>
              <a:t>Drop oldest turns exceeding budget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lide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173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Lora"/>
              </a:defRPr>
            </a:pPr>
            <a:r>
              <a:t>Relational Database Schema (Postgres Audit Tables)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A0B4D2"/>
                </a:solidFill>
                <a:latin typeface="Figtree Medium"/>
              </a:defRPr>
            </a:pPr>
            <a:r>
              <a:t>Supabase Postgres 16 physical schema for governance, audit logging, and authorization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48640" y="1280160"/>
            <a:ext cx="1645920" cy="777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300"/>
              </a:spcAft>
              <a:defRPr sz="850" b="1">
                <a:solidFill>
                  <a:srgbClr val="60A5FA"/>
                </a:solidFill>
                <a:latin typeface="Lora"/>
              </a:defRPr>
            </a:pPr>
            <a:r>
              <a:t>TENANTS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id: UUID [PK]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name: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created_at: timestamptz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" y="2240280"/>
            <a:ext cx="1645920" cy="10515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300"/>
              </a:spcAft>
              <a:defRPr sz="850" b="1">
                <a:solidFill>
                  <a:srgbClr val="60A5FA"/>
                </a:solidFill>
                <a:latin typeface="Lora"/>
              </a:defRPr>
            </a:pPr>
            <a:r>
              <a:t>USERS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id: UUID [PK] (Clerk)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tenant_id: UUID [FK]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email: text [UNIQUE]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role: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created_at: timestamptz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8640" y="3474720"/>
            <a:ext cx="164592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300"/>
              </a:spcAft>
              <a:defRPr sz="850" b="1">
                <a:solidFill>
                  <a:srgbClr val="60A5FA"/>
                </a:solidFill>
                <a:latin typeface="Lora"/>
              </a:defRPr>
            </a:pPr>
            <a:r>
              <a:t>TENANT_CONNECTIONS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tenant_id: UUID [PK]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snowflake_dsn: text (AES)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created_at: timestamptz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560320" y="1965960"/>
            <a:ext cx="1828800" cy="960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300"/>
              </a:spcAft>
              <a:defRPr sz="850" b="1">
                <a:solidFill>
                  <a:srgbClr val="60A5FA"/>
                </a:solidFill>
                <a:latin typeface="Lora"/>
              </a:defRPr>
            </a:pPr>
            <a:r>
              <a:t>CONVERSATIONS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id: UUID [PK]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user_id: UUID [FK]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tenant_id: UUID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title: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created_at: timestamptz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560320" y="3200400"/>
            <a:ext cx="182880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300"/>
              </a:spcAft>
              <a:defRPr sz="850" b="1">
                <a:solidFill>
                  <a:srgbClr val="60A5FA"/>
                </a:solidFill>
                <a:latin typeface="Lora"/>
              </a:defRPr>
            </a:pPr>
            <a:r>
              <a:t>USER_SNOWFLAKE_ROLES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user_id: UUID [PK]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tenant_id: UUID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snowflake_role: text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754880" y="1280160"/>
            <a:ext cx="196596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300"/>
              </a:spcAft>
              <a:defRPr sz="850" b="1">
                <a:solidFill>
                  <a:srgbClr val="60A5FA"/>
                </a:solidFill>
                <a:latin typeface="Lora"/>
              </a:defRPr>
            </a:pPr>
            <a:r>
              <a:t>TURNS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id: UUID [PK]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conversation_id: UUID [FK]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user_id: UUID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tenant_id: UUID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user_input: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raw_transcript: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deepgram_confidence_raw: float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generated_sql: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result_json: jsonb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chart_type: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chart_rationale: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confidence_tier: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composite_score: float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clarification_triggered: bool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quality_flag: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source: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input_modality: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latency_ms: int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created_at: timestamptz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086600" y="1965960"/>
            <a:ext cx="16916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300"/>
              </a:spcAft>
              <a:defRPr sz="850" b="1">
                <a:solidFill>
                  <a:srgbClr val="60A5FA"/>
                </a:solidFill>
                <a:latin typeface="Lora"/>
              </a:defRPr>
            </a:pPr>
            <a:r>
              <a:t>CLARIFICATIONS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id: UUID [PK]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turn_id: UUID [FK]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prompt_sent: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user_choice: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resolution_type: text</a:t>
            </a:r>
          </a:p>
          <a:p>
            <a:pPr>
              <a:spcAft>
                <a:spcPts val="150"/>
              </a:spcAft>
              <a:defRPr sz="720">
                <a:solidFill>
                  <a:srgbClr val="DCE6F5"/>
                </a:solidFill>
                <a:latin typeface="Figtree Medium"/>
              </a:defRPr>
            </a:pPr>
            <a:r>
              <a:t>created_at: timestamptz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086600" y="3291840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" b="0">
                <a:solidFill>
                  <a:srgbClr val="EAB308"/>
                </a:solidFill>
                <a:latin typeface="Figtree Medium"/>
              </a:defRPr>
            </a:pPr>
            <a:r>
              <a:t>Audit Warnings &amp; Governance Invariants:</a:t>
            </a:r>
            <a:br/>
            <a:r>
              <a:t>• Postgres NEVER stores raw Snowflake result rows (InfoSec data leakage safeguard).</a:t>
            </a:r>
            <a:br/>
            <a:r>
              <a:t>• turns.result_json contains schema shape, row counts, and NLP summary only.</a:t>
            </a:r>
            <a:br/>
            <a:r>
              <a:t>• tenant_connections.snowflake_dsn is AES-256 encrypted at rest; keys are only in memory.</a:t>
            </a:r>
          </a:p>
        </p:txBody>
      </p:sp>
      <p:sp>
        <p:nvSpPr>
          <p:cNvPr id="121" name="Down Arrow 120"/>
          <p:cNvSpPr/>
          <p:nvPr/>
        </p:nvSpPr>
        <p:spPr>
          <a:xfrm>
            <a:off x="1371600" y="2057400"/>
            <a:ext cx="109728" cy="18288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Down Arrow 121"/>
          <p:cNvSpPr/>
          <p:nvPr/>
        </p:nvSpPr>
        <p:spPr>
          <a:xfrm>
            <a:off x="1371600" y="3291840"/>
            <a:ext cx="109728" cy="18288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ight Arrow 122"/>
          <p:cNvSpPr/>
          <p:nvPr/>
        </p:nvSpPr>
        <p:spPr>
          <a:xfrm>
            <a:off x="2194560" y="2286000"/>
            <a:ext cx="365760" cy="109728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ight Arrow 123"/>
          <p:cNvSpPr/>
          <p:nvPr/>
        </p:nvSpPr>
        <p:spPr>
          <a:xfrm>
            <a:off x="4389120" y="2057400"/>
            <a:ext cx="365760" cy="109728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ight Arrow 124"/>
          <p:cNvSpPr/>
          <p:nvPr/>
        </p:nvSpPr>
        <p:spPr>
          <a:xfrm>
            <a:off x="6720840" y="2148840"/>
            <a:ext cx="365760" cy="109728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Down Arrow 125"/>
          <p:cNvSpPr/>
          <p:nvPr/>
        </p:nvSpPr>
        <p:spPr>
          <a:xfrm>
            <a:off x="3474720" y="2926080"/>
            <a:ext cx="109728" cy="27432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lide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173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Lora"/>
              </a:defRPr>
            </a:pPr>
            <a:r>
              <a:t>WS Pipeline Events &amp; REST API Contracts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A0B4D2"/>
                </a:solidFill>
                <a:latin typeface="Figtree Medium"/>
              </a:defRPr>
            </a:pPr>
            <a:r>
              <a:t>Standard interface specifications, HTTP verbs, payload mappings, and event types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Lora"/>
              </a:defRPr>
            </a:pPr>
            <a:r>
              <a:t>REST API Endpoints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" y="1600200"/>
            <a:ext cx="982980" cy="256032"/>
          </a:xfrm>
          <a:prstGeom prst="rect">
            <a:avLst/>
          </a:prstGeom>
          <a:solidFill>
            <a:srgbClr val="1820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Lora"/>
              </a:defRPr>
            </a:pPr>
            <a:r>
              <a:t>Endpoint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31620" y="1600200"/>
            <a:ext cx="982980" cy="256032"/>
          </a:xfrm>
          <a:prstGeom prst="rect">
            <a:avLst/>
          </a:prstGeom>
          <a:solidFill>
            <a:srgbClr val="1820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Lora"/>
              </a:defRPr>
            </a:pPr>
            <a:r>
              <a:t>Verb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514600" y="1600200"/>
            <a:ext cx="982980" cy="256032"/>
          </a:xfrm>
          <a:prstGeom prst="rect">
            <a:avLst/>
          </a:prstGeom>
          <a:solidFill>
            <a:srgbClr val="1820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Lora"/>
              </a:defRPr>
            </a:pPr>
            <a:r>
              <a:t>Request Payload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497580" y="1600200"/>
            <a:ext cx="982980" cy="256032"/>
          </a:xfrm>
          <a:prstGeom prst="rect">
            <a:avLst/>
          </a:prstGeom>
          <a:solidFill>
            <a:srgbClr val="1820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Lora"/>
              </a:defRPr>
            </a:pPr>
            <a:r>
              <a:t>Response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8640" y="210312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/api/session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531620" y="210312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POST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514600" y="210312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{ tenant_id }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497580" y="210312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{ session_id, conversation_id }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8640" y="260604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/api/query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31620" y="260604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POST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514600" y="260604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{ session_id, submitted_text }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497580" y="260604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{ turn_id, status: 'processing' }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48640" y="310896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/api/clarification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531620" y="310896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POST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514600" y="310896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{ session_id, turn_id, selection, resolution_type }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97580" y="310896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{ status: 'received', turn_id }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48640" y="361188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/api/result/{turn_id}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31620" y="361188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GET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514600" y="361188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Empty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497580" y="3611880"/>
            <a:ext cx="98298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{ chart_type, generated_sql, result, tts_text }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54880" y="12801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9333EA"/>
                </a:solidFill>
                <a:latin typeface="Lora"/>
              </a:defRPr>
            </a:pPr>
            <a:r>
              <a:t>WebSocket Downstream Events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754880" y="1600200"/>
            <a:ext cx="1280160" cy="256032"/>
          </a:xfrm>
          <a:prstGeom prst="rect">
            <a:avLst/>
          </a:prstGeom>
          <a:solidFill>
            <a:srgbClr val="1820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Lora"/>
              </a:defRPr>
            </a:pPr>
            <a:r>
              <a:t>Event Type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035040" y="1600200"/>
            <a:ext cx="1280160" cy="256032"/>
          </a:xfrm>
          <a:prstGeom prst="rect">
            <a:avLst/>
          </a:prstGeom>
          <a:solidFill>
            <a:srgbClr val="1820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Lora"/>
              </a:defRPr>
            </a:pPr>
            <a:r>
              <a:t>Payload Attributes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315200" y="1600200"/>
            <a:ext cx="1280160" cy="256032"/>
          </a:xfrm>
          <a:prstGeom prst="rect">
            <a:avLst/>
          </a:prstGeom>
          <a:solidFill>
            <a:srgbClr val="1820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Lora"/>
              </a:defRPr>
            </a:pPr>
            <a:r>
              <a:t>Trigger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754880" y="210312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pipeline_progress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035040" y="210312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stage: 'rag' | 'sql' ...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315200" y="210312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Drives UI loader.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54880" y="260604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clarification_request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035040" y="260604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question, options, timeout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315200" y="260604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Score &lt; 0.65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754880" y="310896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result_ready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035040" y="310896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turn_id, confidence_tier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315200" y="310896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Execution success.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754880" y="361188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pipeline_error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035040" y="361188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code, message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315200" y="361188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Execution failure.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48640" y="42062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EF4444"/>
                </a:solidFill>
                <a:latin typeface="Figtree Medium"/>
              </a:defRPr>
            </a:pPr>
            <a:r>
              <a:t>⚠️ ALL REST requires `Authorization: Bearer &lt;clerk_jwt&gt;`. Strict 4xx validation.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754880" y="42062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EF4444"/>
                </a:solidFill>
                <a:latin typeface="Figtree Medium"/>
              </a:defRPr>
            </a:pPr>
            <a:r>
              <a:t>⚠️ /ws/audio uses raw 16kHz PCM binary framing. NO JSON wrappers.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lide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173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Lora"/>
              </a:defRPr>
            </a:pPr>
            <a:r>
              <a:t>Error Handling &amp; HTTP Response Envelope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A0B4D2"/>
                </a:solidFill>
                <a:latin typeface="Figtree Medium"/>
              </a:defRPr>
            </a:pPr>
            <a:r>
              <a:t>Standard REST error envelope structure, failure mitigations, and user-facing messages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Lora"/>
              </a:defRPr>
            </a:pPr>
            <a:r>
              <a:t>Secure Error Envelope JSON Schema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8640" y="1645920"/>
            <a:ext cx="3840480" cy="2286000"/>
          </a:xfrm>
          <a:prstGeom prst="rect">
            <a:avLst/>
          </a:prstGeom>
          <a:solidFill>
            <a:srgbClr val="141923"/>
          </a:solidFill>
          <a:ln>
            <a:solidFill>
              <a:srgbClr val="3B82F6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AB308"/>
                </a:solidFill>
                <a:latin typeface="Consolas"/>
              </a:defRPr>
            </a:pPr>
            <a:r>
              <a:t>{</a:t>
            </a:r>
            <a:br/>
            <a:r>
              <a:t>  "error": {</a:t>
            </a:r>
            <a:br/>
            <a:r>
              <a:t>    "code": "warehouse_timeout",</a:t>
            </a:r>
            <a:br/>
            <a:r>
              <a:t>    "message": "Query timed out...",</a:t>
            </a:r>
            <a:br/>
            <a:r>
              <a:t>    "detail": "Optional internal detail (null in prod)."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54880" y="12801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9333EA"/>
                </a:solidFill>
                <a:latin typeface="Lora"/>
              </a:defRPr>
            </a:pPr>
            <a:r>
              <a:t>Failure Mitigation Codes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754880" y="1600200"/>
            <a:ext cx="1280160" cy="256032"/>
          </a:xfrm>
          <a:prstGeom prst="rect">
            <a:avLst/>
          </a:prstGeom>
          <a:solidFill>
            <a:srgbClr val="1820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Lora"/>
              </a:defRPr>
            </a:pPr>
            <a:r>
              <a:t>Code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035040" y="1600200"/>
            <a:ext cx="1280160" cy="256032"/>
          </a:xfrm>
          <a:prstGeom prst="rect">
            <a:avLst/>
          </a:prstGeom>
          <a:solidFill>
            <a:srgbClr val="1820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Lora"/>
              </a:defRPr>
            </a:pPr>
            <a:r>
              <a:t>Trigger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315200" y="1600200"/>
            <a:ext cx="1280160" cy="256032"/>
          </a:xfrm>
          <a:prstGeom prst="rect">
            <a:avLst/>
          </a:prstGeom>
          <a:solidFill>
            <a:srgbClr val="1820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Lora"/>
              </a:defRPr>
            </a:pPr>
            <a:r>
              <a:t>User-Facing Message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754880" y="210312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session_expired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35040" y="210312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TTL &gt; 4h or invalid.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315200" y="210312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Your session has expired. Start a new conversation.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754880" y="260604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warehouse_timeout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035040" y="260604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Query &gt; 30s limit.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315200" y="260604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Query timed out... Try again in 30 seconds.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754880" y="310896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sql_generation_failed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035040" y="310896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Invalid SQL generated.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315200" y="310896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I couldn't generate a valid query...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754880" y="361188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pipeline_in_flight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035040" y="361188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Concurrent request.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315200" y="361188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A query is already running. Please wait.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754880" y="411480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turn_forbidden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035040" y="411480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>
                <a:solidFill>
                  <a:srgbClr val="D2DCF0"/>
                </a:solidFill>
                <a:latin typeface="Figtree Medium"/>
              </a:defRPr>
            </a:pPr>
            <a:r>
              <a:t>Access denied for turn.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315200" y="4114800"/>
            <a:ext cx="128016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D2DCF0"/>
                </a:solidFill>
                <a:latin typeface="Figtree Medium"/>
              </a:defRPr>
            </a:pPr>
            <a:r>
              <a:t>You don't have access to this result.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8640" y="402336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50" b="0">
                <a:solidFill>
                  <a:srgbClr val="EAB308"/>
                </a:solidFill>
                <a:latin typeface="Figtree Medium"/>
              </a:defRPr>
            </a:pPr>
            <a:r>
              <a:t>Operational Invariants:</a:t>
            </a:r>
            <a:br/>
            <a:r>
              <a:t>• 4xx (Client) vs 5xx (Retryable) explicitly mapped.</a:t>
            </a:r>
            <a:br/>
            <a:r>
              <a:t>• `detail` payload strictly stripped in Production to prevent data leakage.</a:t>
            </a:r>
            <a:br/>
            <a:r>
              <a:t>• Langfuse telemetry captures raw stack trace asynchronously.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lide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173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Lora"/>
              </a:defRPr>
            </a:pPr>
            <a:r>
              <a:t>Security Constraints &amp; Observability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A0B4D2"/>
                </a:solidFill>
                <a:latin typeface="Figtree Medium"/>
              </a:defRPr>
            </a:pPr>
            <a:r>
              <a:t>Critical InfoSec invariant rules and Langfuse tracing structures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Lora"/>
              </a:defRPr>
            </a:pPr>
            <a:r>
              <a:t>Enterprise InfoSec Rules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48640" y="1645920"/>
            <a:ext cx="384048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bIns="54864" rtlCol="0" anchor="ctr"/>
          <a:lstStyle/>
          <a:p>
            <a:pPr algn="ctr">
              <a:defRPr sz="900" b="1">
                <a:solidFill>
                  <a:srgbClr val="FFFFFF"/>
                </a:solidFill>
                <a:latin typeface="Lora"/>
              </a:defRPr>
            </a:pPr>
            <a:r>
              <a:t>1. Audio Pass-through</a:t>
            </a:r>
          </a:p>
          <a:p>
            <a:pPr>
              <a:defRPr sz="750">
                <a:solidFill>
                  <a:srgbClr val="D2DCF0"/>
                </a:solidFill>
                <a:latin typeface="Figtree Medium"/>
              </a:defRPr>
            </a:pPr>
            <a:r>
              <a:t>Audio bytes NEVER buffered on disk. Sent directly via memory to Deepgram API.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" y="2194560"/>
            <a:ext cx="384048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bIns="54864" rtlCol="0" anchor="ctr"/>
          <a:lstStyle/>
          <a:p>
            <a:pPr algn="ctr">
              <a:defRPr sz="900" b="1">
                <a:solidFill>
                  <a:srgbClr val="FFFFFF"/>
                </a:solidFill>
                <a:latin typeface="Lora"/>
              </a:defRPr>
            </a:pPr>
            <a:r>
              <a:t>2. No Raw Rows</a:t>
            </a:r>
          </a:p>
          <a:p>
            <a:pPr>
              <a:defRPr sz="750">
                <a:solidFill>
                  <a:srgbClr val="D2DCF0"/>
                </a:solidFill>
                <a:latin typeface="Figtree Medium"/>
              </a:defRPr>
            </a:pPr>
            <a:r>
              <a:t>History stores schema shapes only. Raw data NEVER crosses the LLM boundary.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48640" y="2743200"/>
            <a:ext cx="384048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bIns="54864" rtlCol="0" anchor="ctr"/>
          <a:lstStyle/>
          <a:p>
            <a:pPr algn="ctr">
              <a:defRPr sz="900" b="1">
                <a:solidFill>
                  <a:srgbClr val="FFFFFF"/>
                </a:solidFill>
                <a:latin typeface="Lora"/>
              </a:defRPr>
            </a:pPr>
            <a:r>
              <a:t>3. Key Isolation</a:t>
            </a:r>
          </a:p>
          <a:p>
            <a:pPr>
              <a:defRPr sz="750">
                <a:solidFill>
                  <a:srgbClr val="D2DCF0"/>
                </a:solidFill>
                <a:latin typeface="Figtree Medium"/>
              </a:defRPr>
            </a:pPr>
            <a:r>
              <a:t>API credentials exist exclusively in Railway ENV. Never client-side.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48640" y="3291839"/>
            <a:ext cx="384048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bIns="54864" rtlCol="0" anchor="ctr"/>
          <a:lstStyle/>
          <a:p>
            <a:pPr algn="ctr">
              <a:defRPr sz="900" b="1">
                <a:solidFill>
                  <a:srgbClr val="FFFFFF"/>
                </a:solidFill>
                <a:latin typeface="Lora"/>
              </a:defRPr>
            </a:pPr>
            <a:r>
              <a:t>4. AES-256 Encryption</a:t>
            </a:r>
          </a:p>
          <a:p>
            <a:pPr>
              <a:defRPr sz="750">
                <a:solidFill>
                  <a:srgbClr val="D2DCF0"/>
                </a:solidFill>
                <a:latin typeface="Figtree Medium"/>
              </a:defRPr>
            </a:pPr>
            <a:r>
              <a:t>Tenant DSN strings are encrypted at rest in Postgres.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8640" y="3840480"/>
            <a:ext cx="384048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bIns="54864" rtlCol="0" anchor="ctr"/>
          <a:lstStyle/>
          <a:p>
            <a:pPr algn="ctr">
              <a:defRPr sz="900" b="1">
                <a:solidFill>
                  <a:srgbClr val="FFFFFF"/>
                </a:solidFill>
                <a:latin typeface="Lora"/>
              </a:defRPr>
            </a:pPr>
            <a:r>
              <a:t>5. Strict Frontend State</a:t>
            </a:r>
          </a:p>
          <a:p>
            <a:pPr>
              <a:defRPr sz="750">
                <a:solidFill>
                  <a:srgbClr val="D2DCF0"/>
                </a:solidFill>
                <a:latin typeface="Figtree Medium"/>
              </a:defRPr>
            </a:pPr>
            <a:r>
              <a:t>session_id must live in sessionStorage ONLY. NEVER in localStorage.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48640" y="4389120"/>
            <a:ext cx="384048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bIns="54864" rtlCol="0" anchor="ctr"/>
          <a:lstStyle/>
          <a:p>
            <a:pPr algn="ctr">
              <a:defRPr sz="900" b="1">
                <a:solidFill>
                  <a:srgbClr val="FFFFFF"/>
                </a:solidFill>
                <a:latin typeface="Lora"/>
              </a:defRPr>
            </a:pPr>
            <a:r>
              <a:t>6. Single Confidence Source</a:t>
            </a:r>
          </a:p>
          <a:p>
            <a:pPr>
              <a:defRPr sz="750">
                <a:solidFill>
                  <a:srgbClr val="D2DCF0"/>
                </a:solidFill>
                <a:latin typeface="Figtree Medium"/>
              </a:defRPr>
            </a:pPr>
            <a:r>
              <a:t>No parallel LLM logic. Core confidence formula is the singular authority.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54880" y="12801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Lora"/>
              </a:defRPr>
            </a:pPr>
            <a:r>
              <a:t>Langfuse Observability Tree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54880" y="1645920"/>
            <a:ext cx="3840480" cy="1645920"/>
          </a:xfrm>
          <a:prstGeom prst="rect">
            <a:avLst/>
          </a:prstGeom>
          <a:solidFill>
            <a:srgbClr val="141923"/>
          </a:solidFill>
          <a:ln>
            <a:solidFill>
              <a:srgbClr val="3B82F6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2C55E"/>
                </a:solidFill>
                <a:latin typeface="Consolas"/>
              </a:defRPr>
            </a:pPr>
            <a:r>
              <a:t>Trace: `TurnExecution`</a:t>
            </a:r>
          </a:p>
          <a:p>
            <a:pPr>
              <a:defRPr sz="900">
                <a:solidFill>
                  <a:srgbClr val="22C55E"/>
                </a:solidFill>
                <a:latin typeface="Consolas"/>
              </a:defRPr>
            </a:pPr>
            <a:r>
              <a:t>  ├─ Span: `stt_capture`</a:t>
            </a:r>
          </a:p>
          <a:p>
            <a:pPr>
              <a:defRPr sz="900">
                <a:solidFill>
                  <a:srgbClr val="22C55E"/>
                </a:solidFill>
                <a:latin typeface="Consolas"/>
              </a:defRPr>
            </a:pPr>
            <a:r>
              <a:t>  ├─ Span: `memory_retrieval`</a:t>
            </a:r>
          </a:p>
          <a:p>
            <a:pPr>
              <a:defRPr sz="900">
                <a:solidFill>
                  <a:srgbClr val="22C55E"/>
                </a:solidFill>
                <a:latin typeface="Consolas"/>
              </a:defRPr>
            </a:pPr>
            <a:r>
              <a:t>  ├─ Span: `history_injection`</a:t>
            </a:r>
          </a:p>
          <a:p>
            <a:pPr>
              <a:defRPr sz="900">
                <a:solidFill>
                  <a:srgbClr val="22C55E"/>
                </a:solidFill>
                <a:latin typeface="Consolas"/>
              </a:defRPr>
            </a:pPr>
            <a:r>
              <a:t>  ├─ Span: `ambiguity_detection`</a:t>
            </a:r>
          </a:p>
          <a:p>
            <a:pPr>
              <a:defRPr sz="900">
                <a:solidFill>
                  <a:srgbClr val="22C55E"/>
                </a:solidFill>
                <a:latin typeface="Consolas"/>
              </a:defRPr>
            </a:pPr>
            <a:r>
              <a:t>  └─ Span: `confidence_computation`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slide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173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Lora"/>
              </a:defRPr>
            </a:pPr>
            <a:r>
              <a:t>Deployment Topology &amp; Build Roadmap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A0B4D2"/>
                </a:solidFill>
                <a:latin typeface="Figtree Medium"/>
              </a:defRPr>
            </a:pPr>
            <a:r>
              <a:t>Network deployment boundaries and chronological development phases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1280160"/>
            <a:ext cx="3840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Lora"/>
              </a:defRPr>
            </a:pPr>
            <a:r>
              <a:t>Physical Deployment Topology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48640" y="1828800"/>
            <a:ext cx="11887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Lora"/>
              </a:defRPr>
            </a:pPr>
            <a:r>
              <a:rPr sz="1000"/>
              <a:t>Vercel CDN</a:t>
            </a:r>
          </a:p>
          <a:p>
            <a:pPr algn="ctr">
              <a:defRPr sz="700">
                <a:latin typeface="Figtree Medium"/>
              </a:defRPr>
            </a:pPr>
            <a:r>
              <a:rPr sz="800"/>
              <a:t>React Client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377440" y="1828800"/>
            <a:ext cx="11887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Lora"/>
              </a:defRPr>
            </a:pPr>
            <a:r>
              <a:rPr sz="1000"/>
              <a:t>Railway</a:t>
            </a:r>
          </a:p>
          <a:p>
            <a:pPr algn="ctr">
              <a:defRPr sz="700">
                <a:latin typeface="Figtree Medium"/>
              </a:defRPr>
            </a:pPr>
            <a:r>
              <a:rPr sz="800"/>
              <a:t>FastAPI Core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206240" y="1463040"/>
            <a:ext cx="11887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Lora"/>
              </a:defRPr>
            </a:pPr>
            <a:r>
              <a:rPr sz="1000"/>
              <a:t>Supabase</a:t>
            </a:r>
          </a:p>
          <a:p>
            <a:pPr algn="ctr">
              <a:defRPr sz="700">
                <a:latin typeface="Figtree Medium"/>
              </a:defRPr>
            </a:pPr>
            <a:r>
              <a:rPr sz="800"/>
              <a:t>Postgres 16 DB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206240" y="2286000"/>
            <a:ext cx="11887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Lora"/>
              </a:defRPr>
            </a:pPr>
            <a:r>
              <a:rPr sz="1000"/>
              <a:t>Upstash</a:t>
            </a:r>
          </a:p>
          <a:p>
            <a:pPr algn="ctr">
              <a:defRPr sz="700">
                <a:latin typeface="Figtree Medium"/>
              </a:defRPr>
            </a:pPr>
            <a:r>
              <a:rPr sz="800"/>
              <a:t>Redis Serverless</a:t>
            </a:r>
          </a:p>
        </p:txBody>
      </p:sp>
      <p:sp>
        <p:nvSpPr>
          <p:cNvPr id="118" name="Right Arrow 117"/>
          <p:cNvSpPr/>
          <p:nvPr/>
        </p:nvSpPr>
        <p:spPr>
          <a:xfrm>
            <a:off x="1828800" y="2057400"/>
            <a:ext cx="457200" cy="1371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9" name="Right Arrow 118"/>
          <p:cNvSpPr/>
          <p:nvPr/>
        </p:nvSpPr>
        <p:spPr>
          <a:xfrm>
            <a:off x="3657600" y="1737360"/>
            <a:ext cx="457200" cy="1371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0" name="Right Arrow 119"/>
          <p:cNvSpPr/>
          <p:nvPr/>
        </p:nvSpPr>
        <p:spPr>
          <a:xfrm>
            <a:off x="3657600" y="2560320"/>
            <a:ext cx="457200" cy="1371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1" name="TextBox 120"/>
          <p:cNvSpPr txBox="1"/>
          <p:nvPr/>
        </p:nvSpPr>
        <p:spPr>
          <a:xfrm>
            <a:off x="5669280" y="1280160"/>
            <a:ext cx="2926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EAB308"/>
                </a:solidFill>
                <a:latin typeface="Lora"/>
              </a:defRPr>
            </a:pPr>
            <a:r>
              <a:rPr dirty="0"/>
              <a:t>Build Roadmap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69280" y="1645920"/>
            <a:ext cx="2926080" cy="822960"/>
          </a:xfrm>
          <a:prstGeom prst="rect">
            <a:avLst/>
          </a:prstGeom>
          <a:solidFill>
            <a:srgbClr val="1E293B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EAB308"/>
                </a:solidFill>
                <a:latin typeface="Lora"/>
              </a:defRPr>
            </a:pPr>
            <a:r>
              <a:rPr sz="1000" dirty="0"/>
              <a:t>Phase 1: Foundation</a:t>
            </a:r>
          </a:p>
          <a:p>
            <a:pPr algn="ctr">
              <a:defRPr sz="800">
                <a:solidFill>
                  <a:srgbClr val="FFFFFF"/>
                </a:solidFill>
                <a:latin typeface="Figtree Medium"/>
              </a:defRPr>
            </a:pPr>
            <a:r>
              <a:rPr sz="900" dirty="0" err="1"/>
              <a:t>Supabase</a:t>
            </a:r>
            <a:r>
              <a:rPr sz="900" dirty="0"/>
              <a:t>, Redis, Railway, Clerk JWT, </a:t>
            </a:r>
            <a:r>
              <a:rPr sz="900" dirty="0" err="1"/>
              <a:t>Deepgram</a:t>
            </a:r>
            <a:r>
              <a:rPr sz="900" dirty="0"/>
              <a:t> proxy, RAG stubs. Gate 1: End of W3.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669280" y="2560320"/>
            <a:ext cx="2926080" cy="822960"/>
          </a:xfrm>
          <a:prstGeom prst="rect">
            <a:avLst/>
          </a:prstGeom>
          <a:solidFill>
            <a:srgbClr val="1E293B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EAB308"/>
                </a:solidFill>
                <a:latin typeface="Lora"/>
              </a:defRPr>
            </a:pPr>
            <a:r>
              <a:rPr sz="1000" dirty="0"/>
              <a:t>Phase 2: Integration</a:t>
            </a:r>
          </a:p>
          <a:p>
            <a:pPr algn="ctr">
              <a:defRPr sz="800">
                <a:solidFill>
                  <a:srgbClr val="FFFFFF"/>
                </a:solidFill>
                <a:latin typeface="Figtree Medium"/>
              </a:defRPr>
            </a:pPr>
            <a:r>
              <a:rPr sz="900" dirty="0"/>
              <a:t>Clarification UI, ambiguity rules, threshold tuning. Gate 2: End of W6 (E2E Tests).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669280" y="3474720"/>
            <a:ext cx="2926080" cy="822960"/>
          </a:xfrm>
          <a:prstGeom prst="rect">
            <a:avLst/>
          </a:prstGeom>
          <a:solidFill>
            <a:srgbClr val="1E293B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EAB308"/>
                </a:solidFill>
                <a:latin typeface="Lora"/>
              </a:defRPr>
            </a:pPr>
            <a:r>
              <a:rPr sz="1000" dirty="0"/>
              <a:t>Phase 3: Hardening</a:t>
            </a:r>
          </a:p>
          <a:p>
            <a:pPr algn="ctr">
              <a:defRPr sz="800">
                <a:solidFill>
                  <a:srgbClr val="FFFFFF"/>
                </a:solidFill>
                <a:latin typeface="Figtree Medium"/>
              </a:defRPr>
            </a:pPr>
            <a:r>
              <a:rPr sz="900" dirty="0"/>
              <a:t>Browser support, security audits, soft launch.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1648</Words>
  <Application>Microsoft Office PowerPoint</Application>
  <PresentationFormat>On-screen Show (16:9)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Lora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Satyajit Suri</dc:creator>
  <cp:lastModifiedBy>Satyajit Suri</cp:lastModifiedBy>
  <cp:revision>120</cp:revision>
  <dcterms:modified xsi:type="dcterms:W3CDTF">2026-06-08T14:45:08Z</dcterms:modified>
</cp:coreProperties>
</file>